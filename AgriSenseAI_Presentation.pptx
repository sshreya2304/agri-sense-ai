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D3520"/>
          </a:solidFill>
          <a:ln w="12700">
            <a:solidFill>
              <a:srgbClr val="0D3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274320"/>
            <a:ext cx="2286000" cy="2286000"/>
          </a:xfrm>
          <a:prstGeom prst="ellipse">
            <a:avLst/>
          </a:prstGeom>
          <a:solidFill>
            <a:srgbClr val="1A6B3C">
              <a:alpha val="60000"/>
            </a:srgbClr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2926080"/>
            <a:ext cx="1828800" cy="1828800"/>
          </a:xfrm>
          <a:prstGeom prst="ellipse">
            <a:avLst/>
          </a:prstGeom>
          <a:solidFill>
            <a:srgbClr val="2ECC71">
              <a:alpha val="45000"/>
            </a:srgbClr>
          </a:solidFill>
          <a:ln w="12700">
            <a:solidFill>
              <a:srgbClr val="2ECC7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645920"/>
            <a:ext cx="1463040" cy="1463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41148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2ECC71">
              <a:alpha val="85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3931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🌿  AI-Powered AgriTech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20040" y="8686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AgriSense</a:t>
            </a:r>
            <a:endParaRPr lang="en-US" sz="5600" dirty="0"/>
          </a:p>
        </p:txBody>
      </p:sp>
      <p:sp>
        <p:nvSpPr>
          <p:cNvPr id="10" name="Text 7"/>
          <p:cNvSpPr/>
          <p:nvPr/>
        </p:nvSpPr>
        <p:spPr>
          <a:xfrm>
            <a:off x="320040" y="166420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5600" dirty="0"/>
          </a:p>
        </p:txBody>
      </p:sp>
      <p:sp>
        <p:nvSpPr>
          <p:cNvPr id="11" name="Text 8"/>
          <p:cNvSpPr/>
          <p:nvPr/>
        </p:nvSpPr>
        <p:spPr>
          <a:xfrm>
            <a:off x="320040" y="248716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Crop Advisory Platform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20040" y="2971800"/>
            <a:ext cx="5166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farmers with AI-driven crop recommendations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8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soil, climate, weather &amp; land data — all in one app.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20040" y="3749040"/>
            <a:ext cx="5029200" cy="22860"/>
          </a:xfrm>
          <a:prstGeom prst="rect">
            <a:avLst/>
          </a:prstGeom>
          <a:solidFill>
            <a:srgbClr val="1A4A2E"/>
          </a:solidFill>
          <a:ln w="12700">
            <a:solidFill>
              <a:srgbClr val="1A4A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38404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2ECC71"/>
                </a:solidFill>
              </a:rPr>
              <a:t>TEAM MEMBERS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20040" y="408736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Shreya Mehta  (Team Leader)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320040" y="434340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Jakkula Pallavi  •  Hema Gangotri Pandi  •  Dhwani Suthar  •  Aadrika Srivastava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8138160" y="48006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6B3C"/>
                </a:solidFill>
              </a:rPr>
              <a:t>1 / 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218"/>
          </a:solidFill>
          <a:ln w="12700">
            <a:solidFill>
              <a:srgbClr val="0A22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914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1A4A2E"/>
                </a:solidFill>
              </a:rPr>
              <a:t>02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20116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11480" y="118872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A2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agriculture faces a critical gap between traditional knowledge and modern precision farming.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0040" y="1719072"/>
            <a:ext cx="41605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1719072"/>
            <a:ext cx="64008" cy="129844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2920" y="2039112"/>
            <a:ext cx="475488" cy="47548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066544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24712" y="18105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2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Uninformed Crop Selection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1124712" y="210312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rely on guesswork or tradition, ignoring soil nutrients, pH levels &amp; land topography — leading to poor yields.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754880" y="1719072"/>
            <a:ext cx="41605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754880" y="1719072"/>
            <a:ext cx="64008" cy="129844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937760" y="2039112"/>
            <a:ext cx="475488" cy="47548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192" y="2066544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559552" y="18105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2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Unpredictable Weather Risk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559552" y="210312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hyper-local weather analysis causes crop failures due to unexpected frost, drought, or excess rainfall.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320040" y="3200400"/>
            <a:ext cx="41605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20040" y="3200400"/>
            <a:ext cx="64008" cy="129844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02920" y="3520440"/>
            <a:ext cx="475488" cy="47548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547872"/>
            <a:ext cx="420624" cy="42062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24712" y="32918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2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Data-Driven Guidance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124712" y="358444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70% of small-scale farmers have no access to agronomists or real-time agricultural advisory services.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4754880" y="3200400"/>
            <a:ext cx="41605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754880" y="3200400"/>
            <a:ext cx="64008" cy="129844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937760" y="3520440"/>
            <a:ext cx="475488" cy="47548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5192" y="3547872"/>
            <a:ext cx="420624" cy="42062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559552" y="32918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2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&amp; Tech Barriers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5559552" y="358444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digital tools are complex, English-only, and not designed for rural farmers with limited smartphone experience.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8138160" y="48006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C8B8"/>
                </a:solidFill>
              </a:rPr>
              <a:t>2 / 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D3520">
              <a:alpha val="70000"/>
            </a:srgbClr>
          </a:solidFill>
          <a:ln w="12700">
            <a:solidFill>
              <a:srgbClr val="0D3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0D3520">
              <a:alpha val="70000"/>
            </a:srgbClr>
          </a:solidFill>
          <a:ln w="12700">
            <a:solidFill>
              <a:srgbClr val="0D3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2ECC71"/>
                </a:solidFill>
              </a:rPr>
              <a:t>03  /  Our Solution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AgriSense AI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2618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BC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mobile platform that converses with farmers and recommends the perfect crop.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828800"/>
            <a:ext cx="1508760" cy="2852928"/>
          </a:xfrm>
          <a:prstGeom prst="rect">
            <a:avLst/>
          </a:prstGeom>
          <a:solidFill>
            <a:srgbClr val="0D3520"/>
          </a:solidFill>
          <a:ln w="12700">
            <a:solidFill>
              <a:srgbClr val="1A6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828800"/>
            <a:ext cx="1508760" cy="640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057400"/>
            <a:ext cx="685800" cy="685800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084832"/>
            <a:ext cx="630936" cy="63093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84048" y="2834640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Atmospheric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84048" y="3401568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F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weather &amp; rainfall data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84048" y="443484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CC71"/>
                </a:solidFill>
              </a:rPr>
              <a:t>1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039112" y="1828800"/>
            <a:ext cx="1508760" cy="2852928"/>
          </a:xfrm>
          <a:prstGeom prst="rect">
            <a:avLst/>
          </a:prstGeom>
          <a:solidFill>
            <a:srgbClr val="0D3520"/>
          </a:solidFill>
          <a:ln w="12700">
            <a:solidFill>
              <a:srgbClr val="1A6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039112" y="1828800"/>
            <a:ext cx="1508760" cy="640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450592" y="2057400"/>
            <a:ext cx="685800" cy="685800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024" y="2084832"/>
            <a:ext cx="630936" cy="63093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103120" y="2834640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Profiling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2103120" y="3401568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F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pH, nutrients, terrain type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2103120" y="443484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CC71"/>
                </a:solidFill>
              </a:rPr>
              <a:t>2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758184" y="1828800"/>
            <a:ext cx="1508760" cy="2852928"/>
          </a:xfrm>
          <a:prstGeom prst="rect">
            <a:avLst/>
          </a:prstGeom>
          <a:solidFill>
            <a:srgbClr val="0D3520"/>
          </a:solidFill>
          <a:ln w="12700">
            <a:solidFill>
              <a:srgbClr val="1A6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758184" y="1828800"/>
            <a:ext cx="1508760" cy="640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169664" y="2057400"/>
            <a:ext cx="685800" cy="685800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7096" y="2084832"/>
            <a:ext cx="630936" cy="63093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822192" y="2834640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3822192" y="3401568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F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crop modelling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3822192" y="443484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CC71"/>
                </a:solidFill>
              </a:rPr>
              <a:t>3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5477256" y="1828800"/>
            <a:ext cx="1508760" cy="2852928"/>
          </a:xfrm>
          <a:prstGeom prst="rect">
            <a:avLst/>
          </a:prstGeom>
          <a:solidFill>
            <a:srgbClr val="0D3520"/>
          </a:solidFill>
          <a:ln w="12700">
            <a:solidFill>
              <a:srgbClr val="1A6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5477256" y="1828800"/>
            <a:ext cx="1508760" cy="640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5888736" y="2057400"/>
            <a:ext cx="685800" cy="685800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168" y="2084832"/>
            <a:ext cx="630936" cy="630936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541264" y="2834640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5541264" y="3401568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F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advice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5541264" y="443484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CC71"/>
                </a:solidFill>
              </a:rPr>
              <a:t>4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7196328" y="1828800"/>
            <a:ext cx="1508760" cy="2852928"/>
          </a:xfrm>
          <a:prstGeom prst="rect">
            <a:avLst/>
          </a:prstGeom>
          <a:solidFill>
            <a:srgbClr val="0D3520"/>
          </a:solidFill>
          <a:ln w="12700">
            <a:solidFill>
              <a:srgbClr val="1A6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7196328" y="1828800"/>
            <a:ext cx="1508760" cy="640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7607808" y="2057400"/>
            <a:ext cx="685800" cy="685800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2084832"/>
            <a:ext cx="630936" cy="630936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7260336" y="2834640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Cultivation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950" dirty="0"/>
          </a:p>
        </p:txBody>
      </p:sp>
      <p:sp>
        <p:nvSpPr>
          <p:cNvPr id="41" name="Text 34"/>
          <p:cNvSpPr/>
          <p:nvPr/>
        </p:nvSpPr>
        <p:spPr>
          <a:xfrm>
            <a:off x="7260336" y="3401568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F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grow plans</a:t>
            </a:r>
            <a:endParaRPr lang="en-US" sz="800" dirty="0"/>
          </a:p>
        </p:txBody>
      </p:sp>
      <p:sp>
        <p:nvSpPr>
          <p:cNvPr id="42" name="Text 35"/>
          <p:cNvSpPr/>
          <p:nvPr/>
        </p:nvSpPr>
        <p:spPr>
          <a:xfrm>
            <a:off x="7260336" y="443484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CC71"/>
                </a:solidFill>
              </a:rPr>
              <a:t>5</a:t>
            </a:r>
            <a:endParaRPr lang="en-US" sz="900" dirty="0"/>
          </a:p>
        </p:txBody>
      </p:sp>
      <p:sp>
        <p:nvSpPr>
          <p:cNvPr id="43" name="Text 36"/>
          <p:cNvSpPr/>
          <p:nvPr/>
        </p:nvSpPr>
        <p:spPr>
          <a:xfrm>
            <a:off x="1755648" y="2651760"/>
            <a:ext cx="73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CC71"/>
                </a:solidFill>
              </a:rPr>
              <a:t>›</a:t>
            </a:r>
            <a:endParaRPr lang="en-US" sz="2000" dirty="0"/>
          </a:p>
        </p:txBody>
      </p:sp>
      <p:sp>
        <p:nvSpPr>
          <p:cNvPr id="44" name="Text 37"/>
          <p:cNvSpPr/>
          <p:nvPr/>
        </p:nvSpPr>
        <p:spPr>
          <a:xfrm>
            <a:off x="3474720" y="2651760"/>
            <a:ext cx="73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CC71"/>
                </a:solidFill>
              </a:rPr>
              <a:t>›</a:t>
            </a:r>
            <a:endParaRPr lang="en-US" sz="2000" dirty="0"/>
          </a:p>
        </p:txBody>
      </p:sp>
      <p:sp>
        <p:nvSpPr>
          <p:cNvPr id="45" name="Text 38"/>
          <p:cNvSpPr/>
          <p:nvPr/>
        </p:nvSpPr>
        <p:spPr>
          <a:xfrm>
            <a:off x="5193792" y="2651760"/>
            <a:ext cx="73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CC71"/>
                </a:solidFill>
              </a:rPr>
              <a:t>›</a:t>
            </a:r>
            <a:endParaRPr lang="en-US" sz="2000" dirty="0"/>
          </a:p>
        </p:txBody>
      </p:sp>
      <p:sp>
        <p:nvSpPr>
          <p:cNvPr id="46" name="Text 39"/>
          <p:cNvSpPr/>
          <p:nvPr/>
        </p:nvSpPr>
        <p:spPr>
          <a:xfrm>
            <a:off x="6912864" y="2651760"/>
            <a:ext cx="73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CC71"/>
                </a:solidFill>
              </a:rPr>
              <a:t>›</a:t>
            </a:r>
            <a:endParaRPr lang="en-US" sz="2000" dirty="0"/>
          </a:p>
        </p:txBody>
      </p:sp>
      <p:sp>
        <p:nvSpPr>
          <p:cNvPr id="47" name="Text 40"/>
          <p:cNvSpPr/>
          <p:nvPr/>
        </p:nvSpPr>
        <p:spPr>
          <a:xfrm>
            <a:off x="8138160" y="48006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6B3C"/>
                </a:solidFill>
              </a:rPr>
              <a:t>3 / 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914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A2218"/>
                </a:solidFill>
              </a:rPr>
              <a:t>04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20116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57200" y="1170432"/>
            <a:ext cx="2606040" cy="868680"/>
          </a:xfrm>
          <a:prstGeom prst="rect">
            <a:avLst/>
          </a:prstGeom>
          <a:solidFill>
            <a:srgbClr val="0A2218"/>
          </a:solidFill>
          <a:ln w="12700">
            <a:solidFill>
              <a:srgbClr val="0A22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8640" y="118872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48640" y="1664208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CFAD"/>
                </a:solidFill>
              </a:rPr>
              <a:t>Higher Crop Yield Accuracy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337560" y="1170432"/>
            <a:ext cx="2606040" cy="868680"/>
          </a:xfrm>
          <a:prstGeom prst="rect">
            <a:avLst/>
          </a:prstGeom>
          <a:solidFill>
            <a:srgbClr val="0A2218"/>
          </a:solidFill>
          <a:ln w="12700">
            <a:solidFill>
              <a:srgbClr val="0A22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429000" y="118872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3429000" y="1664208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CFAD"/>
                </a:solidFill>
              </a:rPr>
              <a:t>Reduction in Crop Failures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217920" y="1170432"/>
            <a:ext cx="2606040" cy="868680"/>
          </a:xfrm>
          <a:prstGeom prst="rect">
            <a:avLst/>
          </a:prstGeom>
          <a:solidFill>
            <a:srgbClr val="0A2218"/>
          </a:solidFill>
          <a:ln w="12700">
            <a:solidFill>
              <a:srgbClr val="0A22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309360" y="118872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6309360" y="1664208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CFAD"/>
                </a:solidFill>
              </a:rPr>
              <a:t>AI Advisory Availability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20040" y="2148840"/>
            <a:ext cx="272491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7200" y="2496312"/>
            <a:ext cx="438912" cy="438912"/>
          </a:xfrm>
          <a:prstGeom prst="ellipse">
            <a:avLst/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514600"/>
            <a:ext cx="402336" cy="40233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005840" y="22219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A2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Recommendations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1005840" y="25146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analyses 15+ parameters including soil NPK, pH, moisture, elevation &amp; microclimate.</a:t>
            </a:r>
            <a:endParaRPr lang="en-US" sz="820" dirty="0"/>
          </a:p>
        </p:txBody>
      </p:sp>
      <p:sp>
        <p:nvSpPr>
          <p:cNvPr id="21" name="Shape 17"/>
          <p:cNvSpPr/>
          <p:nvPr/>
        </p:nvSpPr>
        <p:spPr>
          <a:xfrm>
            <a:off x="3246120" y="2148840"/>
            <a:ext cx="272491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383280" y="2496312"/>
            <a:ext cx="438912" cy="438912"/>
          </a:xfrm>
          <a:prstGeom prst="ellipse">
            <a:avLst/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2514600"/>
            <a:ext cx="402336" cy="40233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931920" y="22219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A2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Crop-Specific Cultivation Guide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3931920" y="25146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step-by-step instructions: sowing, irrigation, fertilisation &amp; harvest timing.</a:t>
            </a:r>
            <a:endParaRPr lang="en-US" sz="820" dirty="0"/>
          </a:p>
        </p:txBody>
      </p:sp>
      <p:sp>
        <p:nvSpPr>
          <p:cNvPr id="26" name="Shape 21"/>
          <p:cNvSpPr/>
          <p:nvPr/>
        </p:nvSpPr>
        <p:spPr>
          <a:xfrm>
            <a:off x="6172200" y="2148840"/>
            <a:ext cx="272491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309360" y="2496312"/>
            <a:ext cx="438912" cy="438912"/>
          </a:xfrm>
          <a:prstGeom prst="ellipse">
            <a:avLst/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2514600"/>
            <a:ext cx="402336" cy="40233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858000" y="22219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A2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Farm Profitability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6858000" y="25146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decisions reduce input waste and maximise returns per acre for farmers.</a:t>
            </a:r>
            <a:endParaRPr lang="en-US" sz="820" dirty="0"/>
          </a:p>
        </p:txBody>
      </p:sp>
      <p:sp>
        <p:nvSpPr>
          <p:cNvPr id="31" name="Shape 25"/>
          <p:cNvSpPr/>
          <p:nvPr/>
        </p:nvSpPr>
        <p:spPr>
          <a:xfrm>
            <a:off x="320040" y="3566160"/>
            <a:ext cx="272491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457200" y="3913632"/>
            <a:ext cx="438912" cy="438912"/>
          </a:xfrm>
          <a:prstGeom prst="ellipse">
            <a:avLst/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931920"/>
            <a:ext cx="402336" cy="40233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005840" y="363931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A2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Chatbot</a:t>
            </a:r>
            <a:endParaRPr lang="en-US" sz="950" dirty="0"/>
          </a:p>
        </p:txBody>
      </p:sp>
      <p:sp>
        <p:nvSpPr>
          <p:cNvPr id="35" name="Text 28"/>
          <p:cNvSpPr/>
          <p:nvPr/>
        </p:nvSpPr>
        <p:spPr>
          <a:xfrm>
            <a:off x="1005840" y="39319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can ask questions in natural language and get instant, context-aware guidance.</a:t>
            </a:r>
            <a:endParaRPr lang="en-US" sz="820" dirty="0"/>
          </a:p>
        </p:txBody>
      </p:sp>
      <p:sp>
        <p:nvSpPr>
          <p:cNvPr id="36" name="Shape 29"/>
          <p:cNvSpPr/>
          <p:nvPr/>
        </p:nvSpPr>
        <p:spPr>
          <a:xfrm>
            <a:off x="3246120" y="3566160"/>
            <a:ext cx="272491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3383280" y="3913632"/>
            <a:ext cx="438912" cy="438912"/>
          </a:xfrm>
          <a:prstGeom prst="ellipse">
            <a:avLst/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1568" y="3931920"/>
            <a:ext cx="402336" cy="402336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3931920" y="363931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A2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ML Learning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3931920" y="39319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improves with regional crop data, user feedback and seasonal outcome tracking.</a:t>
            </a:r>
            <a:endParaRPr lang="en-US" sz="820" dirty="0"/>
          </a:p>
        </p:txBody>
      </p:sp>
      <p:sp>
        <p:nvSpPr>
          <p:cNvPr id="41" name="Shape 33"/>
          <p:cNvSpPr/>
          <p:nvPr/>
        </p:nvSpPr>
        <p:spPr>
          <a:xfrm>
            <a:off x="6172200" y="3566160"/>
            <a:ext cx="272491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6309360" y="3913632"/>
            <a:ext cx="438912" cy="438912"/>
          </a:xfrm>
          <a:prstGeom prst="ellipse">
            <a:avLst/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7648" y="3931920"/>
            <a:ext cx="402336" cy="402336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6858000" y="363931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A2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&amp; Accessibility</a:t>
            </a:r>
            <a:endParaRPr lang="en-US" sz="950" dirty="0"/>
          </a:p>
        </p:txBody>
      </p:sp>
      <p:sp>
        <p:nvSpPr>
          <p:cNvPr id="45" name="Text 36"/>
          <p:cNvSpPr/>
          <p:nvPr/>
        </p:nvSpPr>
        <p:spPr>
          <a:xfrm>
            <a:off x="6858000" y="39319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rural users: voice input, regional language support &amp; offline capability.</a:t>
            </a:r>
            <a:endParaRPr lang="en-US" sz="820" dirty="0"/>
          </a:p>
        </p:txBody>
      </p:sp>
      <p:sp>
        <p:nvSpPr>
          <p:cNvPr id="46" name="Text 37"/>
          <p:cNvSpPr/>
          <p:nvPr/>
        </p:nvSpPr>
        <p:spPr>
          <a:xfrm>
            <a:off x="8138160" y="48006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C8B8"/>
                </a:solidFill>
              </a:rPr>
              <a:t>4 / 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0D3520">
              <a:alpha val="80000"/>
            </a:srgbClr>
          </a:solidFill>
          <a:ln w="12700">
            <a:solidFill>
              <a:srgbClr val="0D3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2ECC71"/>
                </a:solidFill>
              </a:rPr>
              <a:t>05  /  Technologies &amp; 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47472" y="1216152"/>
            <a:ext cx="4160520" cy="521208"/>
          </a:xfrm>
          <a:prstGeom prst="rect">
            <a:avLst/>
          </a:prstGeom>
          <a:solidFill>
            <a:srgbClr val="0D3520"/>
          </a:solidFill>
          <a:ln w="12700">
            <a:solidFill>
              <a:srgbClr val="1A4A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216152"/>
            <a:ext cx="64008" cy="5212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2527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ECC71"/>
                </a:solidFill>
              </a:rPr>
              <a:t>AI / ML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12064" y="147218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A8D5B5"/>
                </a:solidFill>
              </a:rPr>
              <a:t>Python · TensorFlow · Scikit-learn · NLP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347472" y="1828800"/>
            <a:ext cx="4160520" cy="521208"/>
          </a:xfrm>
          <a:prstGeom prst="rect">
            <a:avLst/>
          </a:prstGeom>
          <a:solidFill>
            <a:srgbClr val="0D3520"/>
          </a:solidFill>
          <a:ln w="12700">
            <a:solidFill>
              <a:srgbClr val="1A4A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1828800"/>
            <a:ext cx="64008" cy="5212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86537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ECC71"/>
                </a:solidFill>
              </a:rPr>
              <a:t>Mobile App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12064" y="208483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A8D5B5"/>
                </a:solidFill>
              </a:rPr>
              <a:t>Flutter (Android &amp; iOS) · Firebase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347472" y="2441448"/>
            <a:ext cx="4160520" cy="521208"/>
          </a:xfrm>
          <a:prstGeom prst="rect">
            <a:avLst/>
          </a:prstGeom>
          <a:solidFill>
            <a:srgbClr val="0D3520"/>
          </a:solidFill>
          <a:ln w="12700">
            <a:solidFill>
              <a:srgbClr val="1A4A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2441448"/>
            <a:ext cx="64008" cy="5212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247802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ECC71"/>
                </a:solidFill>
              </a:rPr>
              <a:t>Backend API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12064" y="269748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A8D5B5"/>
                </a:solidFill>
              </a:rPr>
              <a:t>FastAPI · Node.js · REST / WebSocket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347472" y="3054096"/>
            <a:ext cx="4160520" cy="521208"/>
          </a:xfrm>
          <a:prstGeom prst="rect">
            <a:avLst/>
          </a:prstGeom>
          <a:solidFill>
            <a:srgbClr val="0D3520"/>
          </a:solidFill>
          <a:ln w="12700">
            <a:solidFill>
              <a:srgbClr val="1A4A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3054096"/>
            <a:ext cx="64008" cy="5212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30906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ECC71"/>
                </a:solidFill>
              </a:rPr>
              <a:t>Data &amp; Cloud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12064" y="331012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A8D5B5"/>
                </a:solidFill>
              </a:rPr>
              <a:t>PostgreSQL · AWS S3 · Google Cloud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347472" y="3666744"/>
            <a:ext cx="4160520" cy="521208"/>
          </a:xfrm>
          <a:prstGeom prst="rect">
            <a:avLst/>
          </a:prstGeom>
          <a:solidFill>
            <a:srgbClr val="0D3520"/>
          </a:solidFill>
          <a:ln w="12700">
            <a:solidFill>
              <a:srgbClr val="1A4A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3666744"/>
            <a:ext cx="64008" cy="5212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37033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ECC71"/>
                </a:solidFill>
              </a:rPr>
              <a:t>External APIs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12064" y="392277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A8D5B5"/>
                </a:solidFill>
              </a:rPr>
              <a:t>OpenWeatherMap · NASA Soil Data · Agro API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347472" y="4279392"/>
            <a:ext cx="4160520" cy="521208"/>
          </a:xfrm>
          <a:prstGeom prst="rect">
            <a:avLst/>
          </a:prstGeom>
          <a:solidFill>
            <a:srgbClr val="0D3520"/>
          </a:solidFill>
          <a:ln w="12700">
            <a:solidFill>
              <a:srgbClr val="1A4A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" y="4279392"/>
            <a:ext cx="64008" cy="5212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" y="43159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ECC71"/>
                </a:solidFill>
              </a:rPr>
              <a:t>AI Chatbot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12064" y="45354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A8D5B5"/>
                </a:solidFill>
              </a:rPr>
              <a:t>LLM Integration · Dialogflow · LangChain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4846320" y="7132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846320" y="1216152"/>
            <a:ext cx="3977640" cy="2395728"/>
          </a:xfrm>
          <a:prstGeom prst="rect">
            <a:avLst/>
          </a:prstGeom>
          <a:solidFill>
            <a:srgbClr val="0D3520"/>
          </a:solidFill>
          <a:ln w="12700">
            <a:solidFill>
              <a:srgbClr val="1A6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1216152"/>
            <a:ext cx="3977640" cy="640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83480" y="1481328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9512" y="1444752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5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AgriSense AI bridges the gap between modern technology and traditional farming — putting the power of precision agriculture directly in every farmer's pocket.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83480" y="2240280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39512" y="2203704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5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combining real-time environmental data, AI/ML models, and a conversational interface, we deliver personalised, actionable crop guidance at scale.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983480" y="2999232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9512" y="2962656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5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is not just an app — it is a step towards food security, economic empowerment, and a smarter future for Indian agriculture.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46320" y="3730752"/>
            <a:ext cx="3977640" cy="89611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3822192"/>
            <a:ext cx="566928" cy="566928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5623560" y="3822192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Cultivating the Future with Intelligence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5623560" y="4160520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5E8D0"/>
                </a:solidFill>
              </a:rPr>
              <a:t>AgriSense AI  ·  Team Project 2024-25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8138160" y="48006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6B3C"/>
                </a:solidFill>
              </a:rPr>
              <a:t>5 / 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AgriSense AI - Smart Crop Advisory Platform</dc:title>
  <dc:subject>PptxGenJS Presentation</dc:subject>
  <dc:creator>PptxGenJS</dc:creator>
  <cp:lastModifiedBy>PptxGenJS</cp:lastModifiedBy>
  <cp:revision>1</cp:revision>
  <dcterms:created xsi:type="dcterms:W3CDTF">2026-05-22T16:12:58Z</dcterms:created>
  <dcterms:modified xsi:type="dcterms:W3CDTF">2026-05-22T16:12:58Z</dcterms:modified>
</cp:coreProperties>
</file>